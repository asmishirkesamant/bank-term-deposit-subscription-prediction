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71" r:id="rId9"/>
    <p:sldId id="264" r:id="rId10"/>
    <p:sldId id="266" r:id="rId11"/>
    <p:sldId id="268" r:id="rId12"/>
    <p:sldId id="269" r:id="rId13"/>
    <p:sldId id="272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598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336B-D5B8-C8CC-B977-56F6E878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22B20-0101-1B73-9295-35C2C02FF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F37B9-AE48-5E4E-F8CF-AD0BE6C6E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A45F8-C94F-CEEA-FA33-F0FE76F67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63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005B1-12C6-AB74-5927-6F9952B0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9CBE-9B53-53E6-21E0-A6BB364ED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C1DA6-EE28-9664-A251-51489958F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BDA1E-C9B3-AD95-B0DB-0C6C1D866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858000" cy="6858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24355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-457200"/>
            <a:ext cx="3383280" cy="3383280"/>
          </a:xfrm>
          <a:prstGeom prst="ellipse">
            <a:avLst/>
          </a:prstGeom>
          <a:solidFill>
            <a:srgbClr val="0F7A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Showcase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0100" y="2926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Journey and Practical work across 3 projects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049829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Asmi Shirke Samant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F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Data Science Intern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715000"/>
            <a:ext cx="10515600" cy="0"/>
          </a:xfrm>
          <a:prstGeom prst="line">
            <a:avLst/>
          </a:prstGeom>
          <a:noFill/>
          <a:ln w="12700">
            <a:solidFill>
              <a:srgbClr val="3344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6F30282-9032-0B82-139B-24C5422CE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2D7C35-8742-20A2-5464-E4FEF2894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67618"/>
            <a:ext cx="2903442" cy="11674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LEARNING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Foundation in Supervised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pic>
        <p:nvPicPr>
          <p:cNvPr id="6" name="Image 0" descr="icons/flas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679192"/>
            <a:ext cx="384048" cy="384048"/>
          </a:xfrm>
          <a:prstGeom prst="rect">
            <a:avLst/>
          </a:prstGeom>
        </p:spPr>
      </p:pic>
      <p:pic>
        <p:nvPicPr>
          <p:cNvPr id="11" name="Image 1" descr="icons/cog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679192"/>
            <a:ext cx="384048" cy="384048"/>
          </a:xfrm>
          <a:prstGeom prst="rect">
            <a:avLst/>
          </a:prstGeom>
        </p:spPr>
      </p:pic>
      <p:pic>
        <p:nvPicPr>
          <p:cNvPr id="16" name="Image 2" descr="icons/trophy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679192"/>
            <a:ext cx="384048" cy="384048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640080" y="1481328"/>
            <a:ext cx="3456432" cy="2816352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2607869"/>
            <a:ext cx="2944368" cy="5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3079187"/>
            <a:ext cx="2944368" cy="961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Classification fundamentals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Pipelines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Cross-validation, Splitting, </a:t>
            </a:r>
            <a:r>
              <a:rPr lang="en-US" sz="1600" dirty="0" err="1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52544" y="1481328"/>
            <a:ext cx="3456432" cy="2816352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</p:spPr>
      </p:sp>
      <p:sp>
        <p:nvSpPr>
          <p:cNvPr id="13" name="Text 9"/>
          <p:cNvSpPr/>
          <p:nvPr/>
        </p:nvSpPr>
        <p:spPr>
          <a:xfrm>
            <a:off x="4608576" y="2607869"/>
            <a:ext cx="2944368" cy="5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Learning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8576" y="3079187"/>
            <a:ext cx="2944368" cy="961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Kaggle loan dataset cleaning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Exploratory Data Analysis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Modelling on real-world data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065008" y="1481328"/>
            <a:ext cx="3456432" cy="2816352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97D51A-65FD-E7DB-011F-0431AC4E005C}"/>
              </a:ext>
            </a:extLst>
          </p:cNvPr>
          <p:cNvGrpSpPr/>
          <p:nvPr/>
        </p:nvGrpSpPr>
        <p:grpSpPr>
          <a:xfrm>
            <a:off x="2602706" y="1914776"/>
            <a:ext cx="8595360" cy="549532"/>
            <a:chOff x="2743200" y="1956152"/>
            <a:chExt cx="8595360" cy="549532"/>
          </a:xfrm>
        </p:grpSpPr>
        <p:sp>
          <p:nvSpPr>
            <p:cNvPr id="7" name="Text 4"/>
            <p:cNvSpPr/>
            <p:nvPr/>
          </p:nvSpPr>
          <p:spPr>
            <a:xfrm>
              <a:off x="2743200" y="1956152"/>
              <a:ext cx="1170432" cy="5495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4000" b="1" dirty="0">
                  <a:solidFill>
                    <a:schemeClr val="bg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01</a:t>
              </a:r>
              <a:endParaRPr lang="en-US" sz="40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6455664" y="1956152"/>
              <a:ext cx="1170432" cy="5495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4000" b="1" dirty="0">
                  <a:solidFill>
                    <a:schemeClr val="bg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02</a:t>
              </a:r>
              <a:endParaRPr lang="en-US" sz="40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7" name="Text 12"/>
            <p:cNvSpPr/>
            <p:nvPr/>
          </p:nvSpPr>
          <p:spPr>
            <a:xfrm>
              <a:off x="10168128" y="1956152"/>
              <a:ext cx="1170432" cy="5495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4000" b="1" dirty="0">
                  <a:solidFill>
                    <a:schemeClr val="bg2">
                      <a:lumMod val="75000"/>
                    </a:schemeClr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03</a:t>
              </a:r>
              <a:endParaRPr lang="en-US" sz="40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8" name="Text 13"/>
          <p:cNvSpPr/>
          <p:nvPr/>
        </p:nvSpPr>
        <p:spPr>
          <a:xfrm>
            <a:off x="8321040" y="2607869"/>
            <a:ext cx="2944368" cy="5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079187"/>
            <a:ext cx="2944368" cy="961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Term Deposit Subscription Propensity Model 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APPLIED</a:t>
            </a:r>
            <a:endParaRPr lang="en-US" sz="1100" dirty="0"/>
          </a:p>
        </p:txBody>
      </p:sp>
      <p:pic>
        <p:nvPicPr>
          <p:cNvPr id="21" name="Image 3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28616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4882896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splitting &amp; stratified cross-validation</a:t>
            </a:r>
            <a:endParaRPr lang="en-US" sz="1400" dirty="0"/>
          </a:p>
        </p:txBody>
      </p:sp>
      <p:pic>
        <p:nvPicPr>
          <p:cNvPr id="23" name="Image 4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928616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56248" y="4768998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algorithms: Logistic Regression, Decision Trees, Random Forest, XGBoost, KNN, SVM, Naive Bayes</a:t>
            </a:r>
            <a:endParaRPr lang="en-US" sz="1400" dirty="0"/>
          </a:p>
        </p:txBody>
      </p:sp>
      <p:pic>
        <p:nvPicPr>
          <p:cNvPr id="25" name="Image 5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31536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32688" y="5285232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pipelines: scaling, power transforms, one-hot encoding</a:t>
            </a:r>
            <a:endParaRPr lang="en-US" sz="1400" dirty="0"/>
          </a:p>
        </p:txBody>
      </p:sp>
      <p:pic>
        <p:nvPicPr>
          <p:cNvPr id="27" name="Image 6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431536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56248" y="5330952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beyond accuracy: ROC-AUC, F1, precision/recall trade-offs</a:t>
            </a:r>
            <a:endParaRPr lang="en-US" sz="1400" dirty="0"/>
          </a:p>
        </p:txBody>
      </p:sp>
      <p:pic>
        <p:nvPicPr>
          <p:cNvPr id="29" name="Image 7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934456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32688" y="5909695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feature importance interpretation</a:t>
            </a:r>
            <a:endParaRPr lang="en-US" sz="1400" dirty="0"/>
          </a:p>
        </p:txBody>
      </p:sp>
      <p:pic>
        <p:nvPicPr>
          <p:cNvPr id="31" name="Image 8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934456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586728" y="589788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and outlier treatment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36" name="Image 0" descr="icons/flas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46812"/>
            <a:ext cx="533630" cy="533630"/>
          </a:xfrm>
          <a:prstGeom prst="rect">
            <a:avLst/>
          </a:prstGeom>
        </p:spPr>
      </p:pic>
      <p:pic>
        <p:nvPicPr>
          <p:cNvPr id="37" name="Image 1" descr="icons/cog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256" y="1896000"/>
            <a:ext cx="594360" cy="594360"/>
          </a:xfrm>
          <a:prstGeom prst="rect">
            <a:avLst/>
          </a:prstGeom>
        </p:spPr>
      </p:pic>
      <p:pic>
        <p:nvPicPr>
          <p:cNvPr id="38" name="Image 2" descr="icons/trophy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941907"/>
            <a:ext cx="527419" cy="5274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BDBCBBD-C04C-10DE-CDFE-E611A5AA17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LEARNING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37319" y="1221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1: Iris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9436" y="1425279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307" y="2270976"/>
            <a:ext cx="40703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/>
              <a:t>Classify the observations into 3 different orchid species based on sepal length, sepal width, petal length, and petal width.</a:t>
            </a:r>
          </a:p>
        </p:txBody>
      </p:sp>
      <p:sp>
        <p:nvSpPr>
          <p:cNvPr id="8" name="Text 6"/>
          <p:cNvSpPr/>
          <p:nvPr/>
        </p:nvSpPr>
        <p:spPr>
          <a:xfrm>
            <a:off x="877307" y="3073764"/>
            <a:ext cx="416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samples, 4 features, 3 balanced flower species classes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307" y="3769782"/>
            <a:ext cx="522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classification models compared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5946" y="2493190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7" name="Shape 5"/>
          <p:cNvSpPr/>
          <p:nvPr/>
        </p:nvSpPr>
        <p:spPr>
          <a:xfrm>
            <a:off x="657679" y="3288939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9" name="Shape 7"/>
          <p:cNvSpPr/>
          <p:nvPr/>
        </p:nvSpPr>
        <p:spPr>
          <a:xfrm>
            <a:off x="654573" y="3980815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11" name="Shape 9"/>
          <p:cNvSpPr/>
          <p:nvPr/>
        </p:nvSpPr>
        <p:spPr>
          <a:xfrm>
            <a:off x="637319" y="4777567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51267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CV stability vs held-out test 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28833" y="1704861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ON ACCURACY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6E05524-9351-6639-0A42-BA603F0A0D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6" t="8150" r="2352" b="-396"/>
          <a:stretch>
            <a:fillRect/>
          </a:stretch>
        </p:blipFill>
        <p:spPr>
          <a:xfrm>
            <a:off x="5179036" y="2052780"/>
            <a:ext cx="6509740" cy="3221184"/>
          </a:xfrm>
          <a:prstGeom prst="rect">
            <a:avLst/>
          </a:prstGeom>
          <a:ln w="12700">
            <a:solidFill>
              <a:srgbClr val="121C33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D208C3E-E517-2C0E-70CA-0FB826792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LEARNING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70153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2: Loan Approval Prediction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6243" y="172163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07792"/>
            <a:ext cx="54864" cy="56692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593592"/>
            <a:ext cx="54864" cy="56692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279392"/>
            <a:ext cx="54864" cy="56692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965192"/>
            <a:ext cx="54864" cy="56692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657193" y="1465607"/>
            <a:ext cx="2336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2229B16-00B8-8CD2-10B5-339E482EC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sp>
        <p:nvSpPr>
          <p:cNvPr id="30" name="Text 4">
            <a:extLst>
              <a:ext uri="{FF2B5EF4-FFF2-40B4-BE49-F238E27FC236}">
                <a16:creationId xmlns:a16="http://schemas.microsoft.com/office/drawing/2014/main" id="{7EE8EFFA-A7B1-5051-AB8E-6DE0E41A4C11}"/>
              </a:ext>
            </a:extLst>
          </p:cNvPr>
          <p:cNvSpPr/>
          <p:nvPr/>
        </p:nvSpPr>
        <p:spPr>
          <a:xfrm>
            <a:off x="932401" y="1931995"/>
            <a:ext cx="5010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/>
              <a:t>2 part project: data cleaning pipeline &amp; modelling.</a:t>
            </a: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2A788C-92E0-9980-2079-E7A5099F4415}"/>
              </a:ext>
            </a:extLst>
          </p:cNvPr>
          <p:cNvSpPr/>
          <p:nvPr/>
        </p:nvSpPr>
        <p:spPr>
          <a:xfrm>
            <a:off x="932401" y="2565979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45000 samples, 20 features, Binary classification</a:t>
            </a:r>
            <a:endParaRPr lang="en-US" sz="14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E2CF5DC2-4344-F551-CA43-8C12999982D5}"/>
              </a:ext>
            </a:extLst>
          </p:cNvPr>
          <p:cNvSpPr/>
          <p:nvPr/>
        </p:nvSpPr>
        <p:spPr>
          <a:xfrm>
            <a:off x="932401" y="3199963"/>
            <a:ext cx="522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/>
              <a:t>Cleaned messy, Real-life adjacent synthetic data</a:t>
            </a: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3D0E132C-6C72-B0FC-B3DB-0AA324DFFBF3}"/>
              </a:ext>
            </a:extLst>
          </p:cNvPr>
          <p:cNvSpPr/>
          <p:nvPr/>
        </p:nvSpPr>
        <p:spPr>
          <a:xfrm>
            <a:off x="701040" y="2181021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8D73BEE1-B8AA-45B9-8826-A55B5802953C}"/>
              </a:ext>
            </a:extLst>
          </p:cNvPr>
          <p:cNvSpPr/>
          <p:nvPr/>
        </p:nvSpPr>
        <p:spPr>
          <a:xfrm>
            <a:off x="712773" y="2807966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D1B66641-9749-45C6-B34F-26326293EA03}"/>
              </a:ext>
            </a:extLst>
          </p:cNvPr>
          <p:cNvSpPr/>
          <p:nvPr/>
        </p:nvSpPr>
        <p:spPr>
          <a:xfrm>
            <a:off x="709667" y="3437808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DA152CA7-5E8F-4C20-1639-54AC1302506B}"/>
              </a:ext>
            </a:extLst>
          </p:cNvPr>
          <p:cNvSpPr/>
          <p:nvPr/>
        </p:nvSpPr>
        <p:spPr>
          <a:xfrm>
            <a:off x="701040" y="4196636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89C45350-6EA0-4E8C-E1AD-AB0395B963E4}"/>
              </a:ext>
            </a:extLst>
          </p:cNvPr>
          <p:cNvSpPr/>
          <p:nvPr/>
        </p:nvSpPr>
        <p:spPr>
          <a:xfrm>
            <a:off x="932401" y="394352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D570B9D-A757-A829-F389-642276E4C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962" y="1836608"/>
            <a:ext cx="6308475" cy="4270896"/>
          </a:xfrm>
          <a:prstGeom prst="rect">
            <a:avLst/>
          </a:prstGeom>
          <a:ln w="12700">
            <a:solidFill>
              <a:srgbClr val="121C33"/>
            </a:solidFill>
          </a:ln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99E04DF-801D-2868-22BC-199DD5249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332867"/>
              </p:ext>
            </p:extLst>
          </p:nvPr>
        </p:nvGraphicFramePr>
        <p:xfrm>
          <a:off x="609600" y="3857835"/>
          <a:ext cx="4395376" cy="2163980"/>
        </p:xfrm>
        <a:graphic>
          <a:graphicData uri="http://schemas.openxmlformats.org/drawingml/2006/table">
            <a:tbl>
              <a:tblPr/>
              <a:tblGrid>
                <a:gridCol w="2197688">
                  <a:extLst>
                    <a:ext uri="{9D8B030D-6E8A-4147-A177-3AD203B41FA5}">
                      <a16:colId xmlns:a16="http://schemas.microsoft.com/office/drawing/2014/main" val="2406124607"/>
                    </a:ext>
                  </a:extLst>
                </a:gridCol>
                <a:gridCol w="1098844">
                  <a:extLst>
                    <a:ext uri="{9D8B030D-6E8A-4147-A177-3AD203B41FA5}">
                      <a16:colId xmlns:a16="http://schemas.microsoft.com/office/drawing/2014/main" val="3873208086"/>
                    </a:ext>
                  </a:extLst>
                </a:gridCol>
                <a:gridCol w="1098844">
                  <a:extLst>
                    <a:ext uri="{9D8B030D-6E8A-4147-A177-3AD203B41FA5}">
                      <a16:colId xmlns:a16="http://schemas.microsoft.com/office/drawing/2014/main" val="3398546108"/>
                    </a:ext>
                  </a:extLst>
                </a:gridCol>
              </a:tblGrid>
              <a:tr h="4327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 Accuracy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343332"/>
                  </a:ext>
                </a:extLst>
              </a:tr>
              <a:tr h="4327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70.10%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0.70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611830"/>
                  </a:ext>
                </a:extLst>
              </a:tr>
              <a:tr h="4327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Decision Tree (depth 5)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69.68%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0.69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408426"/>
                  </a:ext>
                </a:extLst>
              </a:tr>
              <a:tr h="4327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69.60%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</a:rPr>
                        <a:t>0.70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875801"/>
                  </a:ext>
                </a:extLst>
              </a:tr>
              <a:tr h="4327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Baseline: Random Guessing 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/>
                        <a:t>-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5044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94760" y="27432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Propensity Modeling for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84048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term deposit subscription for a Portuguese banking institution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9255D5-6FD6-272C-39D5-DB56287DC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562" y="5577840"/>
            <a:ext cx="1614213" cy="64904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7CC646E-9692-1DCA-DA05-CB5BE6288ADF}"/>
              </a:ext>
            </a:extLst>
          </p:cNvPr>
          <p:cNvGrpSpPr/>
          <p:nvPr/>
        </p:nvGrpSpPr>
        <p:grpSpPr>
          <a:xfrm>
            <a:off x="-3533756" y="114078"/>
            <a:ext cx="6858000" cy="6858000"/>
            <a:chOff x="8778240" y="-2194560"/>
            <a:chExt cx="6858000" cy="6858000"/>
          </a:xfrm>
        </p:grpSpPr>
        <p:sp>
          <p:nvSpPr>
            <p:cNvPr id="10" name="Shape 0">
              <a:extLst>
                <a:ext uri="{FF2B5EF4-FFF2-40B4-BE49-F238E27FC236}">
                  <a16:creationId xmlns:a16="http://schemas.microsoft.com/office/drawing/2014/main" id="{25BA277C-54BE-36D0-71F4-A60EAF75E6F2}"/>
                </a:ext>
              </a:extLst>
            </p:cNvPr>
            <p:cNvSpPr/>
            <p:nvPr/>
          </p:nvSpPr>
          <p:spPr>
            <a:xfrm>
              <a:off x="8778240" y="-2194560"/>
              <a:ext cx="6858000" cy="6858000"/>
            </a:xfrm>
            <a:prstGeom prst="ellipse">
              <a:avLst/>
            </a:prstGeom>
            <a:solidFill>
              <a:srgbClr val="1B2A4A"/>
            </a:solidFill>
            <a:ln/>
          </p:spPr>
        </p:sp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DC692786-D126-4D9D-3785-075F6FD58F37}"/>
                </a:ext>
              </a:extLst>
            </p:cNvPr>
            <p:cNvSpPr/>
            <p:nvPr/>
          </p:nvSpPr>
          <p:spPr>
            <a:xfrm>
              <a:off x="9692640" y="-1280160"/>
              <a:ext cx="5029200" cy="5029200"/>
            </a:xfrm>
            <a:prstGeom prst="ellipse">
              <a:avLst/>
            </a:prstGeom>
            <a:solidFill>
              <a:srgbClr val="24355C"/>
            </a:solidFill>
            <a:ln/>
          </p:spPr>
        </p:sp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0B55357B-E5C3-DF85-220C-C359E1776DEE}"/>
                </a:ext>
              </a:extLst>
            </p:cNvPr>
            <p:cNvSpPr/>
            <p:nvPr/>
          </p:nvSpPr>
          <p:spPr>
            <a:xfrm>
              <a:off x="10515600" y="-457200"/>
              <a:ext cx="3383280" cy="3383280"/>
            </a:xfrm>
            <a:prstGeom prst="ellipse">
              <a:avLst/>
            </a:prstGeom>
            <a:solidFill>
              <a:srgbClr val="0F7A6B"/>
            </a:solidFill>
            <a:ln/>
          </p:spPr>
        </p:sp>
      </p:grp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801106" y="6370608"/>
            <a:ext cx="10908792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BAF422-2BA2-1AD2-90F1-62149445A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938321" y="1061907"/>
            <a:ext cx="6368253" cy="2705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  <a:p>
            <a:r>
              <a:rPr lang="en-US" sz="1400" dirty="0"/>
              <a:t>To build a Propensity model that predicts the likelihood of a bank customer subscribing to a term deposit, based on their demographic profile, financial standing, and direct marketing contact history to prioritize outreach efforts toward high-propensity customers.</a:t>
            </a:r>
          </a:p>
          <a:p>
            <a:endParaRPr lang="en-US" sz="1400" dirty="0"/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Eligible Group </a:t>
            </a:r>
          </a:p>
          <a:p>
            <a:r>
              <a:rPr lang="en-US" sz="1400" dirty="0"/>
              <a:t>All existing retail banking customers who have been or can be contacted through the bank's direct marketing channels (phone/cellular) for a term deposit campaign. </a:t>
            </a:r>
            <a:br>
              <a:rPr lang="en-US" sz="1400" dirty="0"/>
            </a:br>
            <a:endParaRPr lang="en-US" sz="1400" dirty="0"/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Response Group </a:t>
            </a:r>
          </a:p>
          <a:p>
            <a:r>
              <a:rPr lang="en-US" sz="1400" dirty="0"/>
              <a:t>Customers who confirmed subscription to a term deposit product following direct marketing contact. </a:t>
            </a:r>
          </a:p>
          <a:p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38200" y="124203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F5F060-4882-F5C5-CFBC-4C7679A51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982691"/>
              </p:ext>
            </p:extLst>
          </p:nvPr>
        </p:nvGraphicFramePr>
        <p:xfrm>
          <a:off x="938321" y="3935544"/>
          <a:ext cx="6247570" cy="1680426"/>
        </p:xfrm>
        <a:graphic>
          <a:graphicData uri="http://schemas.openxmlformats.org/drawingml/2006/table">
            <a:tbl>
              <a:tblPr/>
              <a:tblGrid>
                <a:gridCol w="1985522">
                  <a:extLst>
                    <a:ext uri="{9D8B030D-6E8A-4147-A177-3AD203B41FA5}">
                      <a16:colId xmlns:a16="http://schemas.microsoft.com/office/drawing/2014/main" val="2199315726"/>
                    </a:ext>
                  </a:extLst>
                </a:gridCol>
                <a:gridCol w="4262048">
                  <a:extLst>
                    <a:ext uri="{9D8B030D-6E8A-4147-A177-3AD203B41FA5}">
                      <a16:colId xmlns:a16="http://schemas.microsoft.com/office/drawing/2014/main" val="2501130299"/>
                    </a:ext>
                  </a:extLst>
                </a:gridCol>
              </a:tblGrid>
              <a:tr h="347738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Dataset Overview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676209"/>
                  </a:ext>
                </a:extLst>
              </a:tr>
              <a:tr h="3477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Observations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45,211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49311"/>
                  </a:ext>
                </a:extLst>
              </a:tr>
              <a:tr h="3477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Features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644363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Null values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440995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Duplicate values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80401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1A3426F-6BD7-D218-81F0-DEC2C8B544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733"/>
          <a:stretch>
            <a:fillRect/>
          </a:stretch>
        </p:blipFill>
        <p:spPr>
          <a:xfrm>
            <a:off x="7521091" y="1882110"/>
            <a:ext cx="3832709" cy="3606014"/>
          </a:xfrm>
          <a:prstGeom prst="rect">
            <a:avLst/>
          </a:prstGeom>
          <a:ln w="12700">
            <a:solidFill>
              <a:srgbClr val="121C33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BF7031A-76FD-E595-C8C3-6465FE2ABEDC}"/>
              </a:ext>
            </a:extLst>
          </p:cNvPr>
          <p:cNvSpPr txBox="1"/>
          <p:nvPr/>
        </p:nvSpPr>
        <p:spPr>
          <a:xfrm>
            <a:off x="938321" y="570362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NOTE</a:t>
            </a:r>
            <a:r>
              <a:rPr lang="en-US" sz="1400" dirty="0"/>
              <a:t>: ‘unknown’ is not considered null, since it has real business value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MODELING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spc="-150" dirty="0">
                <a:latin typeface="Cambria" panose="02040503050406030204" pitchFamily="18" charset="0"/>
                <a:ea typeface="Cambria" panose="02040503050406030204" pitchFamily="18" charset="0"/>
              </a:rPr>
              <a:t>EDA Insights</a:t>
            </a:r>
          </a:p>
        </p:txBody>
      </p:sp>
      <p:sp>
        <p:nvSpPr>
          <p:cNvPr id="4" name="Text 2"/>
          <p:cNvSpPr/>
          <p:nvPr/>
        </p:nvSpPr>
        <p:spPr>
          <a:xfrm>
            <a:off x="533095" y="1578131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2240280"/>
            <a:ext cx="0" cy="68580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Customer Demographics  Distribution vs subscription rate</a:t>
            </a:r>
          </a:p>
        </p:txBody>
      </p:sp>
      <p:sp>
        <p:nvSpPr>
          <p:cNvPr id="33" name="Text 26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473012D-CE31-4765-1F6F-C67B987BA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sp>
        <p:nvSpPr>
          <p:cNvPr id="36" name="Text 4">
            <a:extLst>
              <a:ext uri="{FF2B5EF4-FFF2-40B4-BE49-F238E27FC236}">
                <a16:creationId xmlns:a16="http://schemas.microsoft.com/office/drawing/2014/main" id="{15A34CAA-E70C-E80D-2BC8-62C1063DE1CD}"/>
              </a:ext>
            </a:extLst>
          </p:cNvPr>
          <p:cNvSpPr/>
          <p:nvPr/>
        </p:nvSpPr>
        <p:spPr>
          <a:xfrm>
            <a:off x="868680" y="1694183"/>
            <a:ext cx="279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88DE4258-BF61-F9CC-2E11-B196D571A444}"/>
              </a:ext>
            </a:extLst>
          </p:cNvPr>
          <p:cNvSpPr/>
          <p:nvPr/>
        </p:nvSpPr>
        <p:spPr>
          <a:xfrm>
            <a:off x="706624" y="1763310"/>
            <a:ext cx="77006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65D8B1D2-9D6A-0EEB-6C7F-6FE0875829E0}"/>
              </a:ext>
            </a:extLst>
          </p:cNvPr>
          <p:cNvSpPr/>
          <p:nvPr/>
        </p:nvSpPr>
        <p:spPr>
          <a:xfrm>
            <a:off x="706624" y="3021804"/>
            <a:ext cx="77006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B9901A21-FB05-7EE4-E3E8-C97805C16090}"/>
              </a:ext>
            </a:extLst>
          </p:cNvPr>
          <p:cNvSpPr/>
          <p:nvPr/>
        </p:nvSpPr>
        <p:spPr>
          <a:xfrm>
            <a:off x="706624" y="4735964"/>
            <a:ext cx="77006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14636060-9357-3C79-BA08-F6221E5FD3BA}"/>
              </a:ext>
            </a:extLst>
          </p:cNvPr>
          <p:cNvSpPr/>
          <p:nvPr/>
        </p:nvSpPr>
        <p:spPr>
          <a:xfrm>
            <a:off x="706624" y="4068485"/>
            <a:ext cx="77006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F344807E-8A70-FF48-3ABC-5440E50ED9C0}"/>
              </a:ext>
            </a:extLst>
          </p:cNvPr>
          <p:cNvSpPr/>
          <p:nvPr/>
        </p:nvSpPr>
        <p:spPr>
          <a:xfrm>
            <a:off x="868678" y="3558861"/>
            <a:ext cx="33183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B129E70-577B-277D-3A1B-80B46A6DAE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4186981" y="1311284"/>
            <a:ext cx="7236877" cy="5043795"/>
          </a:xfrm>
          <a:prstGeom prst="rect">
            <a:avLst/>
          </a:prstGeom>
          <a:ln w="12700">
            <a:solidFill>
              <a:srgbClr val="121C33"/>
            </a:solidFill>
          </a:ln>
        </p:spPr>
      </p:pic>
      <p:sp>
        <p:nvSpPr>
          <p:cNvPr id="49" name="Rectangle 2">
            <a:extLst>
              <a:ext uri="{FF2B5EF4-FFF2-40B4-BE49-F238E27FC236}">
                <a16:creationId xmlns:a16="http://schemas.microsoft.com/office/drawing/2014/main" id="{BD1C070C-5B6C-BF68-651F-C5C302A79C0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8680" y="1603935"/>
            <a:ext cx="313288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 Band: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Middle-aged are the majority but convert below baseline (10.1%).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Seniors and young adults have highest rates.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Job: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Students and Retired have the highest subscription rates.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Blue-collar biggest source of wasted calls</a:t>
            </a:r>
            <a:r>
              <a:rPr lang="en-US" altLang="en-US" sz="1400" dirty="0"/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Balance Tier: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Subscription rates are relatively consistent across tiers.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Marital: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customers convert slightly better than married.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Housing/Personal Loan: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Customers without housing or personal loan convert better. </a:t>
            </a:r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AD99F502-67C4-98F5-7863-CF7585D4B031}"/>
              </a:ext>
            </a:extLst>
          </p:cNvPr>
          <p:cNvSpPr/>
          <p:nvPr/>
        </p:nvSpPr>
        <p:spPr>
          <a:xfrm>
            <a:off x="711238" y="5376809"/>
            <a:ext cx="77006" cy="86842"/>
          </a:xfrm>
          <a:prstGeom prst="ellipse">
            <a:avLst/>
          </a:prstGeom>
          <a:solidFill>
            <a:srgbClr val="C8932A"/>
          </a:solidFill>
          <a:ln/>
        </p:spPr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E4737-9678-B235-5B13-90851671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A9AE40-2DA6-9744-9F32-90F1C0A6A3AF}"/>
              </a:ext>
            </a:extLst>
          </p:cNvPr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MODELING — EDA INSIGHTS</a:t>
            </a:r>
            <a:endParaRPr lang="en-US" sz="11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A6EE30-51E0-01AB-E9ED-5F5FB86047A0}"/>
              </a:ext>
            </a:extLst>
          </p:cNvPr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Converts, and Through Which Channel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8CB57E-F581-3CF8-EB8E-5F0DB8C64A45}"/>
              </a:ext>
            </a:extLst>
          </p:cNvPr>
          <p:cNvSpPr/>
          <p:nvPr/>
        </p:nvSpPr>
        <p:spPr>
          <a:xfrm>
            <a:off x="64008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 BY CONTACT CHANNEL</a:t>
            </a:r>
            <a:endParaRPr lang="en-US" sz="10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8CA13B0-472D-3449-B541-4350098F134F}"/>
              </a:ext>
            </a:extLst>
          </p:cNvPr>
          <p:cNvSpPr/>
          <p:nvPr/>
        </p:nvSpPr>
        <p:spPr>
          <a:xfrm>
            <a:off x="640080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PREVIOUS CAMPAIGN OUTCOME</a:t>
            </a:r>
            <a:endParaRPr lang="en-US" sz="10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837FE6D-5DFE-A021-0229-CD5E4E178381}"/>
              </a:ext>
            </a:extLst>
          </p:cNvPr>
          <p:cNvSpPr/>
          <p:nvPr/>
        </p:nvSpPr>
        <p:spPr>
          <a:xfrm>
            <a:off x="640080" y="482811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INFERENCE</a:t>
            </a:r>
          </a:p>
        </p:txBody>
      </p:sp>
      <p:pic>
        <p:nvPicPr>
          <p:cNvPr id="10" name="Image 0" descr="icons/check_teal.png">
            <a:extLst>
              <a:ext uri="{FF2B5EF4-FFF2-40B4-BE49-F238E27FC236}">
                <a16:creationId xmlns:a16="http://schemas.microsoft.com/office/drawing/2014/main" id="{5194DCA5-2FEA-3B37-439B-DC562BDF3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13" y="5297752"/>
            <a:ext cx="146304" cy="13955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2BD219BE-B4B8-B6CC-D8F8-9957D74998FA}"/>
              </a:ext>
            </a:extLst>
          </p:cNvPr>
          <p:cNvSpPr/>
          <p:nvPr/>
        </p:nvSpPr>
        <p:spPr>
          <a:xfrm>
            <a:off x="914400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outreach channel: Cellular (14.9%)</a:t>
            </a:r>
            <a:endParaRPr lang="en-US" sz="1200" dirty="0"/>
          </a:p>
        </p:txBody>
      </p:sp>
      <p:pic>
        <p:nvPicPr>
          <p:cNvPr id="12" name="Image 1" descr="icons/check_teal.png">
            <a:extLst>
              <a:ext uri="{FF2B5EF4-FFF2-40B4-BE49-F238E27FC236}">
                <a16:creationId xmlns:a16="http://schemas.microsoft.com/office/drawing/2014/main" id="{7B40E0EE-DDC2-26AB-5DB0-67A5A6BB0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809816"/>
            <a:ext cx="146304" cy="13955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4519E259-07BE-B676-352E-25C25D86C54B}"/>
              </a:ext>
            </a:extLst>
          </p:cNvPr>
          <p:cNvSpPr/>
          <p:nvPr/>
        </p:nvSpPr>
        <p:spPr>
          <a:xfrm>
            <a:off x="896112" y="5873991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contact customers likely self-initiated through mail or in-branch channels, making them warmer leads than cold telephone calls despite the modest rate.</a:t>
            </a:r>
            <a:endParaRPr lang="en-US" sz="1200" dirty="0"/>
          </a:p>
        </p:txBody>
      </p:sp>
      <p:pic>
        <p:nvPicPr>
          <p:cNvPr id="14" name="Image 2" descr="icons/check_teal.png">
            <a:extLst>
              <a:ext uri="{FF2B5EF4-FFF2-40B4-BE49-F238E27FC236}">
                <a16:creationId xmlns:a16="http://schemas.microsoft.com/office/drawing/2014/main" id="{D4808C80-537A-59D6-247C-B58DE7189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39" y="5221224"/>
            <a:ext cx="146304" cy="146304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69ECD5AF-363A-06E3-8284-8771C93AD2AB}"/>
              </a:ext>
            </a:extLst>
          </p:cNvPr>
          <p:cNvSpPr/>
          <p:nvPr/>
        </p:nvSpPr>
        <p:spPr>
          <a:xfrm>
            <a:off x="6382512" y="500057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campaign subscriber is most likely to subscribe again (~65%).</a:t>
            </a:r>
            <a:endParaRPr lang="en-US" sz="1200" dirty="0"/>
          </a:p>
        </p:txBody>
      </p:sp>
      <p:pic>
        <p:nvPicPr>
          <p:cNvPr id="16" name="Image 3" descr="icons/check_teal.png">
            <a:extLst>
              <a:ext uri="{FF2B5EF4-FFF2-40B4-BE49-F238E27FC236}">
                <a16:creationId xmlns:a16="http://schemas.microsoft.com/office/drawing/2014/main" id="{B0D5125F-DDC0-C039-B368-D1F3E8C94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39" y="5803064"/>
            <a:ext cx="146304" cy="146304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643BF02F-F879-BB07-784B-784EBABD1EBD}"/>
              </a:ext>
            </a:extLst>
          </p:cNvPr>
          <p:cNvSpPr/>
          <p:nvPr/>
        </p:nvSpPr>
        <p:spPr>
          <a:xfrm>
            <a:off x="6398953" y="5565967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an unknown prior outcome (first-time contact) outperforms a recorded failure, so failures should be the lowest priority, not unknowns.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2DA874F-3DE3-B777-A5EC-4BED24F97905}"/>
              </a:ext>
            </a:extLst>
          </p:cNvPr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71C2C1-1186-7B9D-74D0-C9023FCBB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AE9FC0-0366-9B76-386A-CAAC0B403E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65"/>
          <a:stretch>
            <a:fillRect/>
          </a:stretch>
        </p:blipFill>
        <p:spPr>
          <a:xfrm>
            <a:off x="593761" y="1969337"/>
            <a:ext cx="5304119" cy="27308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F21CF9-2C09-953E-F477-BFC5C679D8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289"/>
          <a:stretch>
            <a:fillRect/>
          </a:stretch>
        </p:blipFill>
        <p:spPr>
          <a:xfrm>
            <a:off x="5998464" y="1868378"/>
            <a:ext cx="5157216" cy="301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1912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5D707FA-41CE-3311-8C62-6E3AD7F94B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53" r="47683"/>
          <a:stretch>
            <a:fillRect/>
          </a:stretch>
        </p:blipFill>
        <p:spPr>
          <a:xfrm>
            <a:off x="6400800" y="1928354"/>
            <a:ext cx="3695700" cy="23434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MODELING — EDA INSIGHTS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Call, and How Many Times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MONTH (SELECTED)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VS. NUMBER OF CONTACTS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5424" y="484746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</a:t>
            </a:r>
            <a:endParaRPr lang="en-US" sz="1100" dirty="0"/>
          </a:p>
        </p:txBody>
      </p:sp>
      <p:pic>
        <p:nvPicPr>
          <p:cNvPr id="10" name="Image 0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24" y="5318379"/>
            <a:ext cx="146304" cy="146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1456" y="5176533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March, has the lowest call volume and the highest conversion rate (52.0%).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pic>
        <p:nvPicPr>
          <p:cNvPr id="12" name="Image 1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104763"/>
            <a:ext cx="146304" cy="1463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1456" y="58597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Focus campaign efforts in Q1 and Q4.</a:t>
            </a:r>
          </a:p>
        </p:txBody>
      </p:sp>
      <p:pic>
        <p:nvPicPr>
          <p:cNvPr id="14" name="Image 2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501" y="3502152"/>
            <a:ext cx="146304" cy="14630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421557" y="3077527"/>
            <a:ext cx="14265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>
              <a:solidFill>
                <a:srgbClr val="1E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050" dirty="0">
              <a:solidFill>
                <a:srgbClr val="1E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10 attempts it approaches zero.</a:t>
            </a:r>
            <a:endParaRPr lang="en-US" sz="1050" dirty="0"/>
          </a:p>
        </p:txBody>
      </p:sp>
      <p:pic>
        <p:nvPicPr>
          <p:cNvPr id="16" name="Image 3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912" y="4860036"/>
            <a:ext cx="146304" cy="14630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469898" y="4847463"/>
            <a:ext cx="13696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4+ contact customers for suppression to protect budget and goodwill.</a:t>
            </a:r>
            <a:endParaRPr lang="en-US" sz="1050" dirty="0"/>
          </a:p>
        </p:txBody>
      </p:sp>
      <p:sp>
        <p:nvSpPr>
          <p:cNvPr id="18" name="Text 10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00E029-1B53-FFE8-F8A0-9DD057258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A209BC-0D7B-E329-707B-4F4FF23313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159"/>
          <a:stretch>
            <a:fillRect/>
          </a:stretch>
        </p:blipFill>
        <p:spPr>
          <a:xfrm>
            <a:off x="388035" y="1928354"/>
            <a:ext cx="5958850" cy="28643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491AF5C-BD6A-5C4D-19EE-D890EC12D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50" t="8161"/>
          <a:stretch>
            <a:fillRect/>
          </a:stretch>
        </p:blipFill>
        <p:spPr>
          <a:xfrm>
            <a:off x="6347439" y="4245371"/>
            <a:ext cx="3594236" cy="2358698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A29D7B3-118A-0DDA-F320-2EA0120F1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63968"/>
              </p:ext>
            </p:extLst>
          </p:nvPr>
        </p:nvGraphicFramePr>
        <p:xfrm>
          <a:off x="10337216" y="1941732"/>
          <a:ext cx="1162050" cy="1152676"/>
        </p:xfrm>
        <a:graphic>
          <a:graphicData uri="http://schemas.openxmlformats.org/drawingml/2006/table">
            <a:tbl>
              <a:tblPr/>
              <a:tblGrid>
                <a:gridCol w="708297">
                  <a:extLst>
                    <a:ext uri="{9D8B030D-6E8A-4147-A177-3AD203B41FA5}">
                      <a16:colId xmlns:a16="http://schemas.microsoft.com/office/drawing/2014/main" val="2314061904"/>
                    </a:ext>
                  </a:extLst>
                </a:gridCol>
                <a:gridCol w="453753">
                  <a:extLst>
                    <a:ext uri="{9D8B030D-6E8A-4147-A177-3AD203B41FA5}">
                      <a16:colId xmlns:a16="http://schemas.microsoft.com/office/drawing/2014/main" val="1957047055"/>
                    </a:ext>
                  </a:extLst>
                </a:gridCol>
              </a:tblGrid>
              <a:tr h="347738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Number of calls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22066"/>
                  </a:ext>
                </a:extLst>
              </a:tr>
              <a:tr h="3477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Max cap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314537"/>
                  </a:ext>
                </a:extLst>
              </a:tr>
              <a:tr h="3477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Min cap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160088"/>
                  </a:ext>
                </a:extLst>
              </a:tr>
            </a:tbl>
          </a:graphicData>
        </a:graphic>
      </p:graphicFrame>
      <p:pic>
        <p:nvPicPr>
          <p:cNvPr id="27" name="Image 0" descr="icons/check_teal.png">
            <a:extLst>
              <a:ext uri="{FF2B5EF4-FFF2-40B4-BE49-F238E27FC236}">
                <a16:creationId xmlns:a16="http://schemas.microsoft.com/office/drawing/2014/main" id="{13EC9FF6-6D5E-7428-94E8-CFFD80D24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24" y="5688711"/>
            <a:ext cx="146304" cy="14630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5AE228C-76E3-02FF-5C75-322A5BF93290}"/>
              </a:ext>
            </a:extLst>
          </p:cNvPr>
          <p:cNvSpPr txBox="1"/>
          <p:nvPr/>
        </p:nvSpPr>
        <p:spPr>
          <a:xfrm>
            <a:off x="786384" y="563239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May has highest call volume but lowest conversion rates (6.7%).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And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229510"/>
              </p:ext>
            </p:extLst>
          </p:nvPr>
        </p:nvGraphicFramePr>
        <p:xfrm>
          <a:off x="941861" y="1558710"/>
          <a:ext cx="5559551" cy="2340864"/>
        </p:xfrm>
        <a:graphic>
          <a:graphicData uri="http://schemas.openxmlformats.org/drawingml/2006/table">
            <a:tbl>
              <a:tblPr/>
              <a:tblGrid>
                <a:gridCol w="2041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247">
                  <a:extLst>
                    <a:ext uri="{9D8B030D-6E8A-4147-A177-3AD203B41FA5}">
                      <a16:colId xmlns:a16="http://schemas.microsoft.com/office/drawing/2014/main" val="3414470273"/>
                    </a:ext>
                  </a:extLst>
                </a:gridCol>
                <a:gridCol w="9265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Logistic Regression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(baseline)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0.7466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0.3432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0.2347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0.6389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0.770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0.410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0.2642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</a:rPr>
                        <a:t>0.5885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</a:rPr>
                        <a:t>0.787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</a:rPr>
                        <a:t>0.4100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/>
                        <a:t>0.4572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</a:rPr>
                        <a:t>0.3718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AC465-E648-4165-2977-68A4AC814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68BA3E3-BA8D-899F-2567-B0BD2DA574A6}"/>
              </a:ext>
            </a:extLst>
          </p:cNvPr>
          <p:cNvGrpSpPr/>
          <p:nvPr/>
        </p:nvGrpSpPr>
        <p:grpSpPr>
          <a:xfrm>
            <a:off x="7177724" y="1572768"/>
            <a:ext cx="3667405" cy="2340864"/>
            <a:chOff x="7488275" y="1521475"/>
            <a:chExt cx="3667405" cy="2340864"/>
          </a:xfrm>
        </p:grpSpPr>
        <p:sp>
          <p:nvSpPr>
            <p:cNvPr id="45" name="Shape 4">
              <a:extLst>
                <a:ext uri="{FF2B5EF4-FFF2-40B4-BE49-F238E27FC236}">
                  <a16:creationId xmlns:a16="http://schemas.microsoft.com/office/drawing/2014/main" id="{D7D52DF4-F4FD-F80C-31AE-C5D932C0FEE9}"/>
                </a:ext>
              </a:extLst>
            </p:cNvPr>
            <p:cNvSpPr/>
            <p:nvPr/>
          </p:nvSpPr>
          <p:spPr>
            <a:xfrm>
              <a:off x="7488275" y="1521475"/>
              <a:ext cx="3667405" cy="2340864"/>
            </a:xfrm>
            <a:prstGeom prst="roundRect">
              <a:avLst>
                <a:gd name="adj" fmla="val 6154"/>
              </a:avLst>
            </a:prstGeom>
            <a:solidFill>
              <a:srgbClr val="E7F3F1"/>
            </a:solidFill>
            <a:ln/>
          </p:spPr>
        </p:sp>
        <p:sp>
          <p:nvSpPr>
            <p:cNvPr id="14" name="Text 6"/>
            <p:cNvSpPr/>
            <p:nvPr/>
          </p:nvSpPr>
          <p:spPr>
            <a:xfrm>
              <a:off x="7961594" y="1632186"/>
              <a:ext cx="3125621" cy="2016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1B2A4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Model Summary</a:t>
              </a:r>
            </a:p>
            <a:p>
              <a:endParaRPr lang="en-US" sz="1400" dirty="0">
                <a:solidFill>
                  <a:srgbClr val="1B2A4A"/>
                </a:solidFill>
                <a:ea typeface="Cambria" pitchFamily="34" charset="-122"/>
                <a:cs typeface="Cambria" pitchFamily="34" charset="-120"/>
              </a:endParaRPr>
            </a:p>
            <a:p>
              <a:r>
                <a:rPr lang="en-US" sz="1400" dirty="0">
                  <a:ea typeface="Cambria" pitchFamily="34" charset="-122"/>
                  <a:cs typeface="Cambria" pitchFamily="34" charset="-120"/>
                </a:rPr>
                <a:t>Training Data size: 36,168</a:t>
              </a:r>
            </a:p>
            <a:p>
              <a:r>
                <a:rPr lang="en-US" sz="1400" dirty="0">
                  <a:ea typeface="Cambria" pitchFamily="34" charset="-122"/>
                </a:rPr>
                <a:t>Testing Data Size: </a:t>
              </a:r>
              <a:r>
                <a:rPr lang="en-US" sz="1400" dirty="0">
                  <a:ea typeface="Cambria" pitchFamily="34" charset="-122"/>
                  <a:cs typeface="Cambria" pitchFamily="34" charset="-120"/>
                </a:rPr>
                <a:t>9,043</a:t>
              </a:r>
            </a:p>
            <a:p>
              <a:r>
                <a:rPr lang="en-US" sz="1400" dirty="0">
                  <a:ea typeface="Cambria" pitchFamily="34" charset="-122"/>
                </a:rPr>
                <a:t>Algorithms evaluated: </a:t>
              </a:r>
              <a:r>
                <a:rPr lang="en-US" sz="1400" dirty="0" err="1">
                  <a:ea typeface="Cambria" pitchFamily="34" charset="-122"/>
                </a:rPr>
                <a:t>XGBoost</a:t>
              </a:r>
              <a:r>
                <a:rPr lang="en-US" sz="1400" dirty="0">
                  <a:ea typeface="Cambria" pitchFamily="34" charset="-122"/>
                </a:rPr>
                <a:t>, Random Forest, Logistic Regression</a:t>
              </a:r>
            </a:p>
            <a:p>
              <a:r>
                <a:rPr lang="en-US" sz="1400" dirty="0">
                  <a:ea typeface="Cambria" pitchFamily="34" charset="-122"/>
                </a:rPr>
                <a:t>Selected Model: </a:t>
              </a:r>
              <a:r>
                <a:rPr lang="en-US" sz="1400" dirty="0" err="1">
                  <a:ea typeface="Cambria" pitchFamily="34" charset="-122"/>
                </a:rPr>
                <a:t>XGBoost</a:t>
              </a:r>
              <a:endParaRPr lang="en-US" sz="1400" dirty="0"/>
            </a:p>
          </p:txBody>
        </p:sp>
      </p:grpSp>
      <p:sp>
        <p:nvSpPr>
          <p:cNvPr id="16" name="Text 5">
            <a:extLst>
              <a:ext uri="{FF2B5EF4-FFF2-40B4-BE49-F238E27FC236}">
                <a16:creationId xmlns:a16="http://schemas.microsoft.com/office/drawing/2014/main" id="{544A6360-D2A9-DF5B-7FC0-D6F426BAC83A}"/>
              </a:ext>
            </a:extLst>
          </p:cNvPr>
          <p:cNvSpPr/>
          <p:nvPr/>
        </p:nvSpPr>
        <p:spPr>
          <a:xfrm>
            <a:off x="960149" y="42328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INFERENCE</a:t>
            </a:r>
          </a:p>
        </p:txBody>
      </p:sp>
      <p:pic>
        <p:nvPicPr>
          <p:cNvPr id="6" name="Image 0" descr="icons/check_teal.png">
            <a:extLst>
              <a:ext uri="{FF2B5EF4-FFF2-40B4-BE49-F238E27FC236}">
                <a16:creationId xmlns:a16="http://schemas.microsoft.com/office/drawing/2014/main" id="{55DE9AB8-AF09-947D-8FE9-FAF30E3BE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94" y="4674142"/>
            <a:ext cx="146304" cy="139552"/>
          </a:xfrm>
          <a:prstGeom prst="rect">
            <a:avLst/>
          </a:prstGeom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19CDB64B-9674-2220-7327-7C640FB301F3}"/>
              </a:ext>
            </a:extLst>
          </p:cNvPr>
          <p:cNvSpPr/>
          <p:nvPr/>
        </p:nvSpPr>
        <p:spPr>
          <a:xfrm>
            <a:off x="1216181" y="460675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The champion model </a:t>
            </a:r>
            <a:r>
              <a:rPr lang="en-US" altLang="en-US" sz="1200" dirty="0" err="1"/>
              <a:t>XGBoost</a:t>
            </a:r>
            <a:r>
              <a:rPr lang="en-US" altLang="en-US" sz="1200" dirty="0"/>
              <a:t> leads on all three meaningful metrics [ROC-AUC (0.756), F1 (0.410), and precision (0.457)].</a:t>
            </a:r>
          </a:p>
        </p:txBody>
      </p:sp>
      <p:pic>
        <p:nvPicPr>
          <p:cNvPr id="8" name="Image 1" descr="icons/check_teal.png">
            <a:extLst>
              <a:ext uri="{FF2B5EF4-FFF2-40B4-BE49-F238E27FC236}">
                <a16:creationId xmlns:a16="http://schemas.microsoft.com/office/drawing/2014/main" id="{24955AC0-BFCB-56FE-06DC-B8F278652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011" y="5325758"/>
            <a:ext cx="146304" cy="139552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AE3530B8-1767-9E51-A8B1-3D54F2DFBD8A}"/>
              </a:ext>
            </a:extLst>
          </p:cNvPr>
          <p:cNvSpPr/>
          <p:nvPr/>
        </p:nvSpPr>
        <p:spPr>
          <a:xfrm>
            <a:off x="7015298" y="5261166"/>
            <a:ext cx="4363814" cy="76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Precision is the deciding factor for campaign use.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/>
              <a:t>XGBoost</a:t>
            </a:r>
            <a:r>
              <a:rPr lang="en-US" altLang="en-US" sz="1200" dirty="0"/>
              <a:t> flags fewer customers but about 1 in 2 actually subscribe. Logistic Regression and Random Forest flag more but only 1 in 4 converts.</a:t>
            </a:r>
            <a:endParaRPr lang="en-US" sz="1200" dirty="0"/>
          </a:p>
        </p:txBody>
      </p:sp>
      <p:pic>
        <p:nvPicPr>
          <p:cNvPr id="19" name="Image 0" descr="icons/check_teal.png">
            <a:extLst>
              <a:ext uri="{FF2B5EF4-FFF2-40B4-BE49-F238E27FC236}">
                <a16:creationId xmlns:a16="http://schemas.microsoft.com/office/drawing/2014/main" id="{E5C38E4D-5478-6B53-9C84-BBF708356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011" y="4674142"/>
            <a:ext cx="146304" cy="13955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1E016A68-D59B-9D1D-626A-799505641C15}"/>
              </a:ext>
            </a:extLst>
          </p:cNvPr>
          <p:cNvSpPr/>
          <p:nvPr/>
        </p:nvSpPr>
        <p:spPr>
          <a:xfrm>
            <a:off x="7015298" y="4736593"/>
            <a:ext cx="4506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Lower recall (0.372) is an acceptable trade-off; the model is deliberately selective rather than exhaustive, </a:t>
            </a:r>
            <a:r>
              <a:rPr lang="en-US" altLang="en-US" sz="1200" dirty="0" err="1"/>
              <a:t>prioritising</a:t>
            </a:r>
            <a:r>
              <a:rPr lang="en-US" altLang="en-US" sz="1200" dirty="0"/>
              <a:t> call efficiency over total subscriber coverage.</a:t>
            </a: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09C99D3-0C18-5860-1521-D7E300A17FAF}"/>
              </a:ext>
            </a:extLst>
          </p:cNvPr>
          <p:cNvSpPr/>
          <p:nvPr/>
        </p:nvSpPr>
        <p:spPr>
          <a:xfrm>
            <a:off x="6451389" y="5104566"/>
            <a:ext cx="4937760" cy="76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</p:txBody>
      </p:sp>
      <p:pic>
        <p:nvPicPr>
          <p:cNvPr id="23" name="Image 0" descr="icons/check_teal.png">
            <a:extLst>
              <a:ext uri="{FF2B5EF4-FFF2-40B4-BE49-F238E27FC236}">
                <a16:creationId xmlns:a16="http://schemas.microsoft.com/office/drawing/2014/main" id="{B0962C2A-3434-79DF-A744-DDFF1ECB4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61" y="5250405"/>
            <a:ext cx="146304" cy="139552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4EF092F9-74C3-E0A5-1483-AEF09CAD22E4}"/>
              </a:ext>
            </a:extLst>
          </p:cNvPr>
          <p:cNvSpPr/>
          <p:nvPr/>
        </p:nvSpPr>
        <p:spPr>
          <a:xfrm>
            <a:off x="1216181" y="55460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Precision: </a:t>
            </a:r>
            <a:r>
              <a:rPr lang="en-US" altLang="en-US" sz="1200" dirty="0"/>
              <a:t>among customers predicted to subscribe, how many actually subscribed.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Recall: </a:t>
            </a:r>
            <a:r>
              <a:rPr lang="en-US" altLang="en-US" sz="1200" dirty="0"/>
              <a:t>among all customers who actually subscribed, how many the model identified.</a:t>
            </a:r>
          </a:p>
        </p:txBody>
      </p:sp>
      <p:pic>
        <p:nvPicPr>
          <p:cNvPr id="25" name="Image 0" descr="icons/check_teal.png">
            <a:extLst>
              <a:ext uri="{FF2B5EF4-FFF2-40B4-BE49-F238E27FC236}">
                <a16:creationId xmlns:a16="http://schemas.microsoft.com/office/drawing/2014/main" id="{EF1EA6C5-EFDD-8564-3212-0F172A045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61" y="5788411"/>
            <a:ext cx="146304" cy="13955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0857F6DC-5049-F662-210D-D0EE764E19A1}"/>
              </a:ext>
            </a:extLst>
          </p:cNvPr>
          <p:cNvSpPr/>
          <p:nvPr/>
        </p:nvSpPr>
        <p:spPr>
          <a:xfrm>
            <a:off x="6885470" y="1959921"/>
            <a:ext cx="4521967" cy="4225602"/>
          </a:xfrm>
          <a:prstGeom prst="roundRect">
            <a:avLst>
              <a:gd name="adj" fmla="val 6154"/>
            </a:avLst>
          </a:prstGeom>
          <a:solidFill>
            <a:srgbClr val="E7F3F1"/>
          </a:solidFill>
          <a:ln/>
        </p:spPr>
      </p:sp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Feature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FEATURES BY IMPORTANCE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57375" y="251467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8914D5D-1C02-638B-1A98-373A6B02F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357C0F-370D-EEE1-4134-D1F10FEC6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79" y="1971998"/>
            <a:ext cx="5878229" cy="4225602"/>
          </a:xfrm>
          <a:prstGeom prst="rect">
            <a:avLst/>
          </a:prstGeom>
          <a:noFill/>
          <a:ln w="12700">
            <a:solidFill>
              <a:srgbClr val="121C33"/>
            </a:solidFill>
          </a:ln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B130C6EC-FC60-9251-C7F9-581C65822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5817" y="2873264"/>
            <a:ext cx="36780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Poutcome</a:t>
            </a: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dominates by a wide margin (~0.37 total gain)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Contact channel ranks</a:t>
            </a:r>
            <a:r>
              <a:rPr lang="en-US" altLang="en-US" sz="1400" dirty="0"/>
              <a:t> (2</a:t>
            </a:r>
            <a:r>
              <a:rPr lang="en-US" altLang="en-US" sz="1400" baseline="30000" dirty="0"/>
              <a:t>nd</a:t>
            </a:r>
            <a:r>
              <a:rPr lang="en-US" altLang="en-US" sz="1400" dirty="0"/>
              <a:t>): </a:t>
            </a: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(~0.20) Unknown contact type signals self-initiated customer interest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Housing loan status (3</a:t>
            </a:r>
            <a:r>
              <a:rPr kumimoji="0" lang="en-US" altLang="en-US" sz="1400" b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rd</a:t>
            </a: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debt-free customers have more disposable savings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 Band (4</a:t>
            </a:r>
            <a:r>
              <a:rPr kumimoji="0" lang="en-US" altLang="en-US" sz="1400" b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th</a:t>
            </a: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lang="en-US" altLang="en-US" sz="1400" dirty="0"/>
              <a:t>: </a:t>
            </a: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Seniors and Young Adults over-index, Middle-aged under-index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1B2087-0469-FA88-FE19-024EC294BEB6}"/>
              </a:ext>
            </a:extLst>
          </p:cNvPr>
          <p:cNvGrpSpPr/>
          <p:nvPr/>
        </p:nvGrpSpPr>
        <p:grpSpPr>
          <a:xfrm>
            <a:off x="7501292" y="2975061"/>
            <a:ext cx="81779" cy="2239825"/>
            <a:chOff x="7249535" y="2987138"/>
            <a:chExt cx="81779" cy="2239825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9A7AD390-4406-40C2-7B5A-AA89CC285E03}"/>
                </a:ext>
              </a:extLst>
            </p:cNvPr>
            <p:cNvSpPr/>
            <p:nvPr/>
          </p:nvSpPr>
          <p:spPr>
            <a:xfrm>
              <a:off x="7249535" y="2987138"/>
              <a:ext cx="73152" cy="86842"/>
            </a:xfrm>
            <a:prstGeom prst="ellipse">
              <a:avLst/>
            </a:prstGeom>
            <a:solidFill>
              <a:srgbClr val="C8932A"/>
            </a:solidFill>
            <a:ln/>
          </p:spPr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D15213CF-B588-238C-5C7D-5C1A0CE35222}"/>
                </a:ext>
              </a:extLst>
            </p:cNvPr>
            <p:cNvSpPr/>
            <p:nvPr/>
          </p:nvSpPr>
          <p:spPr>
            <a:xfrm>
              <a:off x="7254952" y="3652496"/>
              <a:ext cx="73152" cy="86842"/>
            </a:xfrm>
            <a:prstGeom prst="ellipse">
              <a:avLst/>
            </a:prstGeom>
            <a:solidFill>
              <a:srgbClr val="C8932A"/>
            </a:solidFill>
            <a:ln/>
          </p:spPr>
        </p:sp>
        <p:sp>
          <p:nvSpPr>
            <p:cNvPr id="28" name="Shape 7">
              <a:extLst>
                <a:ext uri="{FF2B5EF4-FFF2-40B4-BE49-F238E27FC236}">
                  <a16:creationId xmlns:a16="http://schemas.microsoft.com/office/drawing/2014/main" id="{41CC7A33-1052-6712-D394-C00FAA52AFB0}"/>
                </a:ext>
              </a:extLst>
            </p:cNvPr>
            <p:cNvSpPr/>
            <p:nvPr/>
          </p:nvSpPr>
          <p:spPr>
            <a:xfrm>
              <a:off x="7258162" y="4518184"/>
              <a:ext cx="73152" cy="86842"/>
            </a:xfrm>
            <a:prstGeom prst="ellipse">
              <a:avLst/>
            </a:prstGeom>
            <a:solidFill>
              <a:srgbClr val="C8932A"/>
            </a:solidFill>
            <a:ln/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B5CC1413-AF7F-C1B3-106E-C382892CCD0D}"/>
                </a:ext>
              </a:extLst>
            </p:cNvPr>
            <p:cNvSpPr/>
            <p:nvPr/>
          </p:nvSpPr>
          <p:spPr>
            <a:xfrm>
              <a:off x="7249535" y="5140121"/>
              <a:ext cx="73152" cy="86842"/>
            </a:xfrm>
            <a:prstGeom prst="ellipse">
              <a:avLst/>
            </a:prstGeom>
            <a:solidFill>
              <a:srgbClr val="C8932A"/>
            </a:solidFill>
            <a:ln/>
          </p:spPr>
        </p:sp>
      </p:grp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 Suggestions</a:t>
            </a:r>
            <a:endParaRPr lang="en-US" sz="3000" dirty="0"/>
          </a:p>
        </p:txBody>
      </p:sp>
      <p:sp>
        <p:nvSpPr>
          <p:cNvPr id="4" name="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4840" y="150876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28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SEGMENT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96860" y="1988993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Tertiary-educated, often student or retired, contacted via cellular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6860" y="2354753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contacted with a recorded campaign SUCCESS (30% of segment vs 3% baseline)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6860" y="2720513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housing loan, no personal loan, financially unencumbered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6860" y="3086273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age band over-represented at 19.5% vs 3.9% baseline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1508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EXECUTION TOP DECILES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1828800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sp>
        <p:nvSpPr>
          <p:cNvPr id="18" name="Shape 15"/>
          <p:cNvSpPr/>
          <p:nvPr/>
        </p:nvSpPr>
        <p:spPr>
          <a:xfrm>
            <a:off x="6144768" y="1993392"/>
            <a:ext cx="237744" cy="237744"/>
          </a:xfrm>
          <a:prstGeom prst="ellipse">
            <a:avLst/>
          </a:prstGeom>
          <a:solidFill>
            <a:srgbClr val="0F7A6B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1883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92240" y="2112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6676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· max 3 attempts · call immediately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44200" y="18288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57.6%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989320" y="2487168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144768" y="2651760"/>
            <a:ext cx="237744" cy="237744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92240" y="2770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36676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· max 2 attempts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44200" y="24871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989320" y="3145536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sp>
        <p:nvSpPr>
          <p:cNvPr id="30" name="Shape 27"/>
          <p:cNvSpPr/>
          <p:nvPr/>
        </p:nvSpPr>
        <p:spPr>
          <a:xfrm>
            <a:off x="6144768" y="3310128"/>
            <a:ext cx="237744" cy="237744"/>
          </a:xfrm>
          <a:prstGeom prst="ellipse">
            <a:avLst/>
          </a:prstGeom>
          <a:solidFill>
            <a:srgbClr val="9CA8BD"/>
          </a:solidFill>
          <a:ln/>
        </p:spPr>
      </p:sp>
      <p:sp>
        <p:nvSpPr>
          <p:cNvPr id="31" name="Text 28"/>
          <p:cNvSpPr/>
          <p:nvPr/>
        </p:nvSpPr>
        <p:spPr>
          <a:xfrm>
            <a:off x="6492240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92240" y="3429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35%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366760" y="31455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mail only; no outbound calls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744200" y="314553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3.9%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40080" y="4069080"/>
            <a:ext cx="10908792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43000" y="45811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4,521</a:t>
            </a:r>
            <a:endParaRPr lang="en-US" sz="3600" dirty="0"/>
          </a:p>
        </p:txBody>
      </p:sp>
      <p:sp>
        <p:nvSpPr>
          <p:cNvPr id="39" name="Text 36"/>
          <p:cNvSpPr/>
          <p:nvPr/>
        </p:nvSpPr>
        <p:spPr>
          <a:xfrm>
            <a:off x="1028700" y="51846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HIGH PRIORITY tier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297680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~4,530</a:t>
            </a:r>
            <a:endParaRPr lang="en-US" sz="3600" dirty="0"/>
          </a:p>
        </p:txBody>
      </p:sp>
      <p:sp>
        <p:nvSpPr>
          <p:cNvPr id="41" name="Text 38"/>
          <p:cNvSpPr/>
          <p:nvPr/>
        </p:nvSpPr>
        <p:spPr>
          <a:xfrm>
            <a:off x="4297680" y="5193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leads from top 2 deciles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+ Medium, at observed rates)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955280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4.9×</a:t>
            </a:r>
            <a:endParaRPr lang="en-US" sz="3600" dirty="0"/>
          </a:p>
        </p:txBody>
      </p:sp>
      <p:sp>
        <p:nvSpPr>
          <p:cNvPr id="43" name="Text 40"/>
          <p:cNvSpPr/>
          <p:nvPr/>
        </p:nvSpPr>
        <p:spPr>
          <a:xfrm>
            <a:off x="7955280" y="5193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a blanket, untargeted campaign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(57.6% vs 11.7% base rate)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40080" y="589788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FBF1DE"/>
          </a:solidFill>
          <a:ln/>
        </p:spPr>
      </p:sp>
      <p:sp>
        <p:nvSpPr>
          <p:cNvPr id="45" name="Text 42"/>
          <p:cNvSpPr/>
          <p:nvPr/>
        </p:nvSpPr>
        <p:spPr>
          <a:xfrm>
            <a:off x="914400" y="5897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11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only the top 2 priority deciles (40% of the base) is projected to capture the large majority of likely subscribers — at a fraction of the calling effort of an untargeted campaign.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6F8A103-65B4-78CC-792A-1B7C8962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sp>
        <p:nvSpPr>
          <p:cNvPr id="48" name="Shape 3">
            <a:extLst>
              <a:ext uri="{FF2B5EF4-FFF2-40B4-BE49-F238E27FC236}">
                <a16:creationId xmlns:a16="http://schemas.microsoft.com/office/drawing/2014/main" id="{E25D80C5-D9C2-28C2-240B-E247C9AB94F8}"/>
              </a:ext>
            </a:extLst>
          </p:cNvPr>
          <p:cNvSpPr/>
          <p:nvPr/>
        </p:nvSpPr>
        <p:spPr>
          <a:xfrm>
            <a:off x="925502" y="2215054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0A6EE576-1595-9500-A099-6EC3E6461589}"/>
              </a:ext>
            </a:extLst>
          </p:cNvPr>
          <p:cNvSpPr/>
          <p:nvPr/>
        </p:nvSpPr>
        <p:spPr>
          <a:xfrm>
            <a:off x="925502" y="2500936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0DECAC17-28AC-F9D2-7639-CB65D83AB871}"/>
              </a:ext>
            </a:extLst>
          </p:cNvPr>
          <p:cNvSpPr/>
          <p:nvPr/>
        </p:nvSpPr>
        <p:spPr>
          <a:xfrm>
            <a:off x="925502" y="2944394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EB7EAA06-59A9-5455-967A-DAFD84B9F92E}"/>
              </a:ext>
            </a:extLst>
          </p:cNvPr>
          <p:cNvSpPr/>
          <p:nvPr/>
        </p:nvSpPr>
        <p:spPr>
          <a:xfrm>
            <a:off x="925502" y="3323180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C4B08-4767-4E81-AD60-6CF8F16D0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DCEE90-CE27-87DB-21B6-A18D78763852}"/>
              </a:ext>
            </a:extLst>
          </p:cNvPr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</a:t>
            </a:r>
            <a:endParaRPr lang="en-US" sz="11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57E6B6-F547-A6B6-6302-42197D8F7DCF}"/>
              </a:ext>
            </a:extLst>
          </p:cNvPr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 Suggestions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1E8C43-8BD6-5D50-61BD-E02F3DC3CF2B}"/>
              </a:ext>
            </a:extLst>
          </p:cNvPr>
          <p:cNvSpPr>
            <a:spLocks/>
          </p:cNvSpPr>
          <p:nvPr/>
        </p:nvSpPr>
        <p:spPr>
          <a:xfrm>
            <a:off x="624840" y="1508760"/>
            <a:ext cx="467754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CF3622C-A456-C29A-F8ED-F03213123F93}"/>
              </a:ext>
            </a:extLst>
          </p:cNvPr>
          <p:cNvSpPr/>
          <p:nvPr/>
        </p:nvSpPr>
        <p:spPr>
          <a:xfrm>
            <a:off x="914400" y="1728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SEGMENT</a:t>
            </a:r>
            <a:endParaRPr lang="en-US" sz="10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82E02A5-D478-738F-9EF9-3A9D172A0EB0}"/>
              </a:ext>
            </a:extLst>
          </p:cNvPr>
          <p:cNvSpPr/>
          <p:nvPr/>
        </p:nvSpPr>
        <p:spPr>
          <a:xfrm>
            <a:off x="914400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3F500AF-A392-28AD-3143-A4512486BD12}"/>
              </a:ext>
            </a:extLst>
          </p:cNvPr>
          <p:cNvSpPr/>
          <p:nvPr/>
        </p:nvSpPr>
        <p:spPr>
          <a:xfrm>
            <a:off x="1096860" y="1988993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Tertiary-educated, often student or retired, contacted via cellular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72DE2AF-74C2-4B0A-ECCE-65BFFA21A677}"/>
              </a:ext>
            </a:extLst>
          </p:cNvPr>
          <p:cNvSpPr/>
          <p:nvPr/>
        </p:nvSpPr>
        <p:spPr>
          <a:xfrm>
            <a:off x="1096860" y="2354753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contacted with a recorded campaign SUCCESS (30% of segment vs 3% baseline)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638782C-DBB3-E184-8B9D-6D76C47800CA}"/>
              </a:ext>
            </a:extLst>
          </p:cNvPr>
          <p:cNvSpPr/>
          <p:nvPr/>
        </p:nvSpPr>
        <p:spPr>
          <a:xfrm>
            <a:off x="1096860" y="2720513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housing loan, no personal loan, financially unencumbered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454837B-025F-A644-93F7-E963D0B65187}"/>
              </a:ext>
            </a:extLst>
          </p:cNvPr>
          <p:cNvSpPr/>
          <p:nvPr/>
        </p:nvSpPr>
        <p:spPr>
          <a:xfrm>
            <a:off x="1096860" y="3086273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age band over-represented at 19.5% vs 3.9% baseline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9325B6F-FF9F-26C2-ED5F-4205C601D26A}"/>
              </a:ext>
            </a:extLst>
          </p:cNvPr>
          <p:cNvSpPr/>
          <p:nvPr/>
        </p:nvSpPr>
        <p:spPr>
          <a:xfrm>
            <a:off x="5989320" y="1508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EXECUTION TOP DECILES</a:t>
            </a:r>
            <a:endParaRPr lang="en-US" sz="105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FCAD50FB-88A0-88BE-5461-A86C7C3F10D1}"/>
              </a:ext>
            </a:extLst>
          </p:cNvPr>
          <p:cNvSpPr/>
          <p:nvPr/>
        </p:nvSpPr>
        <p:spPr>
          <a:xfrm>
            <a:off x="640080" y="4069080"/>
            <a:ext cx="10908792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D32A4467-C5FF-F819-4AC3-7B2AA69413EA}"/>
              </a:ext>
            </a:extLst>
          </p:cNvPr>
          <p:cNvSpPr/>
          <p:nvPr/>
        </p:nvSpPr>
        <p:spPr>
          <a:xfrm>
            <a:off x="1143000" y="45811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4,521</a:t>
            </a:r>
            <a:endParaRPr lang="en-US" sz="36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45043494-56CB-4119-BCDD-71C14115A4B7}"/>
              </a:ext>
            </a:extLst>
          </p:cNvPr>
          <p:cNvSpPr/>
          <p:nvPr/>
        </p:nvSpPr>
        <p:spPr>
          <a:xfrm>
            <a:off x="1028700" y="51846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HIGH PRIORITY tier</a:t>
            </a:r>
            <a:endParaRPr lang="en-US" sz="105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CF9E41AB-066A-EAC8-FC1A-F2352521F4E0}"/>
              </a:ext>
            </a:extLst>
          </p:cNvPr>
          <p:cNvSpPr/>
          <p:nvPr/>
        </p:nvSpPr>
        <p:spPr>
          <a:xfrm>
            <a:off x="4297680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~4,530</a:t>
            </a:r>
            <a:endParaRPr lang="en-US" sz="36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1B871223-24F9-7980-F918-085D440655F6}"/>
              </a:ext>
            </a:extLst>
          </p:cNvPr>
          <p:cNvSpPr/>
          <p:nvPr/>
        </p:nvSpPr>
        <p:spPr>
          <a:xfrm>
            <a:off x="4297680" y="5193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leads from top 2 deciles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+ Medium, at observed rates)</a:t>
            </a:r>
            <a:endParaRPr lang="en-US" sz="105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FD889992-24C2-57BA-9EB5-AF9B0874F948}"/>
              </a:ext>
            </a:extLst>
          </p:cNvPr>
          <p:cNvSpPr/>
          <p:nvPr/>
        </p:nvSpPr>
        <p:spPr>
          <a:xfrm>
            <a:off x="7955280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4.9×</a:t>
            </a:r>
            <a:endParaRPr lang="en-US" sz="360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345AF20C-55C4-EC34-E4CA-623EA9EA1F7F}"/>
              </a:ext>
            </a:extLst>
          </p:cNvPr>
          <p:cNvSpPr/>
          <p:nvPr/>
        </p:nvSpPr>
        <p:spPr>
          <a:xfrm>
            <a:off x="7955280" y="5193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a blanket, untargeted campaign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(57.6% vs 11.7% base rate)</a:t>
            </a:r>
            <a:endParaRPr lang="en-US" sz="1050" dirty="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47C52141-ACC0-BBEF-B4E4-68BFDB54EB45}"/>
              </a:ext>
            </a:extLst>
          </p:cNvPr>
          <p:cNvSpPr/>
          <p:nvPr/>
        </p:nvSpPr>
        <p:spPr>
          <a:xfrm>
            <a:off x="640080" y="5897880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FBF1DE"/>
          </a:solidFill>
          <a:ln/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F6552E38-9C8F-1291-E9B7-136931D66097}"/>
              </a:ext>
            </a:extLst>
          </p:cNvPr>
          <p:cNvSpPr/>
          <p:nvPr/>
        </p:nvSpPr>
        <p:spPr>
          <a:xfrm>
            <a:off x="914400" y="5897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11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only the top 2 priority deciles (40% of the base) is projected to capture the large majority of likely subscribers — at a fraction of the calling effort of an untargeted campaign.</a:t>
            </a:r>
            <a:endParaRPr lang="en-US" sz="110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0D72D549-44DE-3A61-05B5-01DB677876B4}"/>
              </a:ext>
            </a:extLst>
          </p:cNvPr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163540A-56A3-4392-5D86-F413B58FA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350578"/>
            <a:ext cx="1614213" cy="649048"/>
          </a:xfrm>
          <a:prstGeom prst="rect">
            <a:avLst/>
          </a:prstGeom>
        </p:spPr>
      </p:pic>
      <p:sp>
        <p:nvSpPr>
          <p:cNvPr id="48" name="Shape 3">
            <a:extLst>
              <a:ext uri="{FF2B5EF4-FFF2-40B4-BE49-F238E27FC236}">
                <a16:creationId xmlns:a16="http://schemas.microsoft.com/office/drawing/2014/main" id="{4A49FC4B-C0A6-9A35-1F45-8376B5C6C427}"/>
              </a:ext>
            </a:extLst>
          </p:cNvPr>
          <p:cNvSpPr/>
          <p:nvPr/>
        </p:nvSpPr>
        <p:spPr>
          <a:xfrm>
            <a:off x="925502" y="2215054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1F6AEC2C-1C65-2D7D-FFA0-80FE934678A3}"/>
              </a:ext>
            </a:extLst>
          </p:cNvPr>
          <p:cNvSpPr/>
          <p:nvPr/>
        </p:nvSpPr>
        <p:spPr>
          <a:xfrm>
            <a:off x="925502" y="2500936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78557D63-679E-1CE9-B64C-B4F01B0A5D04}"/>
              </a:ext>
            </a:extLst>
          </p:cNvPr>
          <p:cNvSpPr/>
          <p:nvPr/>
        </p:nvSpPr>
        <p:spPr>
          <a:xfrm>
            <a:off x="925502" y="2944394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816EF0E7-7ECA-5C9E-3C30-010722B30257}"/>
              </a:ext>
            </a:extLst>
          </p:cNvPr>
          <p:cNvSpPr/>
          <p:nvPr/>
        </p:nvSpPr>
        <p:spPr>
          <a:xfrm>
            <a:off x="925502" y="3323180"/>
            <a:ext cx="73152" cy="86842"/>
          </a:xfrm>
          <a:prstGeom prst="ellipse">
            <a:avLst/>
          </a:prstGeom>
          <a:solidFill>
            <a:srgbClr val="C8932A"/>
          </a:solidFill>
          <a:ln/>
        </p:spPr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B32479-A076-551B-259F-2EC7486D50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4"/>
          <a:stretch>
            <a:fillRect/>
          </a:stretch>
        </p:blipFill>
        <p:spPr bwMode="auto">
          <a:xfrm>
            <a:off x="5409780" y="1759707"/>
            <a:ext cx="6456134" cy="213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34774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kern="0" spc="-15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THANK YOU</a:t>
            </a:r>
            <a:endParaRPr lang="en-US" sz="6000" spc="-15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87509D-EE5A-CD90-8D6B-21A5014F0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562" y="5577840"/>
            <a:ext cx="1614213" cy="6490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BD2DA83-E4EE-DF85-61E0-6BC007F05698}"/>
              </a:ext>
            </a:extLst>
          </p:cNvPr>
          <p:cNvGrpSpPr/>
          <p:nvPr/>
        </p:nvGrpSpPr>
        <p:grpSpPr>
          <a:xfrm>
            <a:off x="7779058" y="-2452012"/>
            <a:ext cx="6858000" cy="6858000"/>
            <a:chOff x="8778240" y="-2194560"/>
            <a:chExt cx="6858000" cy="6858000"/>
          </a:xfrm>
        </p:grpSpPr>
        <p:sp>
          <p:nvSpPr>
            <p:cNvPr id="2" name="Shape 0"/>
            <p:cNvSpPr/>
            <p:nvPr/>
          </p:nvSpPr>
          <p:spPr>
            <a:xfrm>
              <a:off x="8778240" y="-2194560"/>
              <a:ext cx="6858000" cy="6858000"/>
            </a:xfrm>
            <a:prstGeom prst="ellipse">
              <a:avLst/>
            </a:prstGeom>
            <a:solidFill>
              <a:srgbClr val="1B2A4A"/>
            </a:solidFill>
            <a:ln/>
          </p:spPr>
        </p:sp>
        <p:sp>
          <p:nvSpPr>
            <p:cNvPr id="3" name="Shape 1"/>
            <p:cNvSpPr/>
            <p:nvPr/>
          </p:nvSpPr>
          <p:spPr>
            <a:xfrm>
              <a:off x="9692640" y="-1280160"/>
              <a:ext cx="5029200" cy="5029200"/>
            </a:xfrm>
            <a:prstGeom prst="ellipse">
              <a:avLst/>
            </a:prstGeom>
            <a:solidFill>
              <a:srgbClr val="24355C"/>
            </a:solidFill>
            <a:ln/>
          </p:spPr>
        </p:sp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75C2ABE6-E4B6-530B-5284-ECF8F9FDC854}"/>
                </a:ext>
              </a:extLst>
            </p:cNvPr>
            <p:cNvSpPr/>
            <p:nvPr/>
          </p:nvSpPr>
          <p:spPr>
            <a:xfrm>
              <a:off x="10515600" y="-457200"/>
              <a:ext cx="3383280" cy="3383280"/>
            </a:xfrm>
            <a:prstGeom prst="ellipse">
              <a:avLst/>
            </a:prstGeom>
            <a:solidFill>
              <a:srgbClr val="0F7A6B"/>
            </a:solidFill>
            <a:ln/>
          </p:spPr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1256</Words>
  <Application>Microsoft Office PowerPoint</Application>
  <PresentationFormat>Widescreen</PresentationFormat>
  <Paragraphs>241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Internship — Learning Journey &amp; Propensity Modeling</dc:title>
  <dc:subject>PptxGenJS Presentation</dc:subject>
  <dc:creator>Asmi</dc:creator>
  <cp:lastModifiedBy>ASMI SHIRKESAMANT - 70112400035</cp:lastModifiedBy>
  <cp:revision>12</cp:revision>
  <dcterms:created xsi:type="dcterms:W3CDTF">2026-06-30T13:31:10Z</dcterms:created>
  <dcterms:modified xsi:type="dcterms:W3CDTF">2026-07-01T18:36:12Z</dcterms:modified>
</cp:coreProperties>
</file>